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Greenstone Financial Services | Business Model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D6A7"/>
                </a:solidFill>
                <a:latin typeface="Calibri"/>
              </a:defRPr>
            </a:pPr>
            <a:r>
              <a:t>Confidential | March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760720" cy="25603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Company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Founded:</a:t>
            </a:r>
            <a:r>
              <a:rPr sz="900">
                <a:solidFill>
                  <a:srgbClr val="666666"/>
                </a:solidFill>
                <a:latin typeface="Calibri"/>
              </a:rPr>
              <a:t> 2007, Sydney, Australia (part of Hollard Insurance Group expansion)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What it does:</a:t>
            </a:r>
            <a:r>
              <a:rPr sz="900">
                <a:solidFill>
                  <a:srgbClr val="666666"/>
                </a:solidFill>
                <a:latin typeface="Calibri"/>
              </a:rPr>
              <a:t> Australia &amp; NZ's largest direct insurance distributor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Business:</a:t>
            </a:r>
            <a:r>
              <a:rPr sz="900">
                <a:solidFill>
                  <a:srgbClr val="666666"/>
                </a:solidFill>
                <a:latin typeface="Calibri"/>
              </a:rPr>
              <a:t> Design, market, distribute &amp; administer personal insurance products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Products:</a:t>
            </a:r>
            <a:r>
              <a:rPr sz="900">
                <a:solidFill>
                  <a:srgbClr val="666666"/>
                </a:solidFill>
                <a:latin typeface="Calibri"/>
              </a:rPr>
              <a:t> Life, Funeral, Income Protection, Pet, Home, Car, Health, Travel, Landlords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Geographies:</a:t>
            </a:r>
            <a:r>
              <a:rPr sz="900">
                <a:solidFill>
                  <a:srgbClr val="666666"/>
                </a:solidFill>
                <a:latin typeface="Calibri"/>
              </a:rPr>
              <a:t> Australia (core), New Zealand (2019), Canada (2023)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Employees:</a:t>
            </a:r>
            <a:r>
              <a:rPr sz="900">
                <a:solidFill>
                  <a:srgbClr val="666666"/>
                </a:solidFill>
                <a:latin typeface="Calibri"/>
              </a:rPr>
              <a:t> ~800+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Ownership:</a:t>
            </a:r>
            <a:r>
              <a:rPr sz="900">
                <a:solidFill>
                  <a:srgbClr val="666666"/>
                </a:solidFill>
                <a:latin typeface="Calibri"/>
              </a:rPr>
              <a:t> CDPQ (44%), OTPP (33.4%), HIBV/Hollard (remainder)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Valuation:</a:t>
            </a:r>
            <a:r>
              <a:rPr sz="900">
                <a:solidFill>
                  <a:srgbClr val="666666"/>
                </a:solidFill>
                <a:latin typeface="Calibri"/>
              </a:rPr>
              <a:t> ~A$984M (2015 IPO attempt, aborted due to market conditions)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05840"/>
            <a:ext cx="5577840" cy="25603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Business Model: Insurance Distribution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417320"/>
            <a:ext cx="1463040" cy="777240"/>
          </a:xfrm>
          <a:prstGeom prst="roundRect">
            <a:avLst/>
          </a:prstGeom>
          <a:solidFill>
            <a:srgbClr val="BBDEF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750" b="1">
                <a:solidFill>
                  <a:srgbClr val="333333"/>
                </a:solidFill>
                <a:latin typeface="Calibri"/>
              </a:defRPr>
            </a:pPr>
            <a:r>
              <a:t>Underwriters</a:t>
            </a:r>
            <a:br/>
            <a:r>
              <a:t>(Hollard, Hannover</a:t>
            </a:r>
            <a:br/>
            <a:r>
              <a:t>etc.)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1463040" cy="777240"/>
          </a:xfrm>
          <a:prstGeom prst="roundRect">
            <a:avLst/>
          </a:prstGeom>
          <a:solidFill>
            <a:srgbClr val="C8E6C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750" b="1">
                <a:solidFill>
                  <a:srgbClr val="333333"/>
                </a:solidFill>
                <a:latin typeface="Calibri"/>
              </a:defRPr>
            </a:pPr>
            <a:r>
              <a:t>Greenstone</a:t>
            </a:r>
            <a:br/>
            <a:r>
              <a:t>Platform</a:t>
            </a:r>
            <a:br/>
            <a:r>
              <a:t>(Design/Distribute)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417320"/>
            <a:ext cx="1463040" cy="777240"/>
          </a:xfrm>
          <a:prstGeom prst="roundRect">
            <a:avLst/>
          </a:prstGeom>
          <a:solidFill>
            <a:srgbClr val="FFE0B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750" b="1">
                <a:solidFill>
                  <a:srgbClr val="333333"/>
                </a:solidFill>
                <a:latin typeface="Calibri"/>
              </a:defRPr>
            </a:pPr>
            <a:r>
              <a:t>End Consumers</a:t>
            </a:r>
            <a:br/>
            <a:r>
              <a:t>(Direct-to-</a:t>
            </a:r>
            <a:br/>
            <a:r>
              <a:t>Consumer)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600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600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5E20"/>
                </a:solidFill>
                <a:latin typeface="Calibri"/>
              </a:defRPr>
            </a:pPr>
            <a:r>
              <a:t>Distribution Channels: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33333"/>
                </a:solidFill>
                <a:latin typeface="Calibri"/>
              </a:defRPr>
            </a:pPr>
            <a:r>
              <a:t>• Proprietary Brands: Real Insurance, Australian Seniors, Guardian, Prime Pet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33333"/>
                </a:solidFill>
                <a:latin typeface="Calibri"/>
              </a:defRPr>
            </a:pPr>
            <a:r>
              <a:t>• Affinity Partners: Medibank, Woolworths, RSPCA, Kogan, Guide Dogs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33333"/>
                </a:solidFill>
                <a:latin typeface="Calibri"/>
              </a:defRPr>
            </a:pPr>
            <a:r>
              <a:t>• Comparison Platform: Choosi (online aggregator)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333333"/>
                </a:solidFill>
                <a:latin typeface="Calibri"/>
              </a:defRPr>
            </a:pPr>
            <a:r>
              <a:t>Key: Greenstone does NOT bear underwriting risk — it earns commissions/fees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33333"/>
                </a:solidFill>
                <a:latin typeface="Calibri"/>
              </a:defRPr>
            </a:pPr>
            <a:r>
              <a:t>from product design, marketing, distribution &amp; policy administration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5760720" cy="2926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P&amp;L Structure &amp; Cost Breakdown (Insurance Distributor Model)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1">
                <a:solidFill>
                  <a:srgbClr val="1565C0"/>
                </a:solidFill>
                <a:latin typeface="Calibri"/>
              </a:rPr>
              <a:t>Revenue (Commission &amp; Fee Income)</a:t>
            </a:r>
            <a:r>
              <a:rPr sz="800" i="1">
                <a:solidFill>
                  <a:srgbClr val="666666"/>
                </a:solidFill>
                <a:latin typeface="Calibri"/>
              </a:rPr>
              <a:t>  ~A$500M estimated (D&amp;B)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├ Commission income: 20-52% of premiums over policy life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├ Upfront commission: 40-100% of first-year premium (Life/Funeral)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├ Renewal/trail commission: 3-5% annually on renewals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└ Administration &amp; platform fees from affinity partners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1">
                <a:solidFill>
                  <a:srgbClr val="E65100"/>
                </a:solidFill>
                <a:latin typeface="Calibri"/>
              </a:rPr>
              <a:t>(-) Cost of Revenue / COGS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├ Customer acquisition cost (CAC): digital marketing, TV, direct mail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├ Lead generation &amp; performance marketing spend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└ Commissions paid to sub-agents / comparison platforms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1">
                <a:solidFill>
                  <a:srgbClr val="2E7D32"/>
                </a:solidFill>
                <a:latin typeface="Calibri"/>
              </a:rPr>
              <a:t>= Gross Profit  |  Typical margin: 50-70% for asset-light distributors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1">
                <a:solidFill>
                  <a:srgbClr val="E65100"/>
                </a:solidFill>
                <a:latin typeface="Calibri"/>
              </a:rPr>
              <a:t>(-) SG&amp;A (Operating Expenses)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├ People cost (~800 FTE): product design, tech, ops, compliance, mgmt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├ Technology &amp; platform: policy admin systems, CRM, data analytics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├ Brand building &amp; above-the-line marketing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├ Rent, office, corporate overhead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666666"/>
                </a:solidFill>
                <a:latin typeface="Calibri"/>
              </a:rPr>
              <a:t>  └ Regulatory, compliance &amp; licensing costs (ASIC, APRA)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1">
                <a:solidFill>
                  <a:srgbClr val="1B5E20"/>
                </a:solidFill>
                <a:latin typeface="Calibri"/>
              </a:rPr>
              <a:t>= EBITDA  |  Typical range: 20-30% for top insurance MGAs/distributors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sz="850" b="0">
                <a:solidFill>
                  <a:srgbClr val="2E7D32"/>
                </a:solidFill>
                <a:latin typeface="Calibri"/>
              </a:rPr>
              <a:t>  (Industry avg: 15-20%;  Top performers: 25-30%+)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577840" cy="29260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Key Financial Profile &amp; Revenue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690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Estimated Revenue: </a:t>
            </a:r>
            <a:r>
              <a:rPr sz="900">
                <a:solidFill>
                  <a:srgbClr val="666666"/>
                </a:solidFill>
                <a:latin typeface="Calibri"/>
              </a:rPr>
              <a:t>~A$500M (Dun &amp; Bradstreet); ~A$139M (RocketReach est. 2026)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IPO Valuation (2015): </a:t>
            </a:r>
            <a:r>
              <a:rPr sz="900">
                <a:solidFill>
                  <a:srgbClr val="666666"/>
                </a:solidFill>
                <a:latin typeface="Calibri"/>
              </a:rPr>
              <a:t>A$810M - A$984M (aborted)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Revenue Model: </a:t>
            </a:r>
            <a:r>
              <a:rPr sz="900">
                <a:solidFill>
                  <a:srgbClr val="666666"/>
                </a:solidFill>
                <a:latin typeface="Calibri"/>
              </a:rPr>
              <a:t>Commission-based, asset-light (no underwriting risk)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Revenue Quality: </a:t>
            </a:r>
            <a:r>
              <a:rPr sz="900">
                <a:solidFill>
                  <a:srgbClr val="666666"/>
                </a:solidFill>
                <a:latin typeface="Calibri"/>
              </a:rPr>
              <a:t>High recurring revenue from renewal/trail commissions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Key Metric: </a:t>
            </a:r>
            <a:r>
              <a:rPr sz="900">
                <a:solidFill>
                  <a:srgbClr val="666666"/>
                </a:solidFill>
                <a:latin typeface="Calibri"/>
              </a:rPr>
              <a:t>Policies in-force × Average commission per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Calibri"/>
              </a:defRPr>
            </a:pPr>
            <a:r>
              <a:t>What Drives Profitability: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4406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t>1. Policy volume growth (new customer acquisition efficiency)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t>2. Retention rate (renewals = high-margin recurring revenue with minimal CAC)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t>3. Cross-sell / upsell across product lines (Life → Home → Car → Pet)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t>4. Affinity partner pipeline expansion (branded insurance for retailers/brands)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t>5. Geographic expansion leverage (NZ/Canada replicating AU playbook)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t>6. Operating leverage: platform costs largely fixed → scale drives margin expansion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Greenstone Financial Services | Industry, Competition &amp;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5D6A7"/>
                </a:solidFill>
                <a:latin typeface="Calibri"/>
              </a:defRPr>
            </a:pPr>
            <a:r>
              <a:t>Confidential | March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760720" cy="23774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Industry Overview &amp; Market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Market Size:</a:t>
            </a:r>
            <a:r>
              <a:rPr sz="900">
                <a:solidFill>
                  <a:srgbClr val="666666"/>
                </a:solidFill>
                <a:latin typeface="Calibri"/>
              </a:rPr>
              <a:t> Australia total insurance market: US$50.9B (2024) → US$84.7B (2033E), CAGR 5.4%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General Insurance:</a:t>
            </a:r>
            <a:r>
              <a:rPr sz="900">
                <a:solidFill>
                  <a:srgbClr val="666666"/>
                </a:solidFill>
                <a:latin typeface="Calibri"/>
              </a:rPr>
              <a:t> US$18.1B (2024) → US$33.0B (2033E), CAGR 6.9%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Aggregator Market:</a:t>
            </a:r>
            <a:r>
              <a:rPr sz="900">
                <a:solidFill>
                  <a:srgbClr val="666666"/>
                </a:solidFill>
                <a:latin typeface="Calibri"/>
              </a:rPr>
              <a:t> Global insurance aggregators: US$35.7B (2024) → US$103B (2029E), CAGR 23.4%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/>
            </a:r>
            <a:r>
              <a:rPr sz="900">
                <a:solidFill>
                  <a:srgbClr val="666666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1B5E20"/>
                </a:solidFill>
                <a:latin typeface="Calibri"/>
              </a:rPr>
              <a:t>Key Trends:</a:t>
            </a:r>
            <a:r>
              <a:rPr sz="900">
                <a:solidFill>
                  <a:srgbClr val="666666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  1.</a:t>
            </a:r>
            <a:r>
              <a:rPr sz="900">
                <a:solidFill>
                  <a:srgbClr val="666666"/>
                </a:solidFill>
                <a:latin typeface="Calibri"/>
              </a:rPr>
              <a:t> Digital shift: Online/digital is the fastest growing channel (4.67% CAGR in AU)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  2.</a:t>
            </a:r>
            <a:r>
              <a:rPr sz="900">
                <a:solidFill>
                  <a:srgbClr val="666666"/>
                </a:solidFill>
                <a:latin typeface="Calibri"/>
              </a:rPr>
              <a:t> Embedded insurance: Cover bundled into retail/e-commerce transactions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  3.</a:t>
            </a:r>
            <a:r>
              <a:rPr sz="900">
                <a:solidFill>
                  <a:srgbClr val="666666"/>
                </a:solidFill>
                <a:latin typeface="Calibri"/>
              </a:rPr>
              <a:t> Data &amp; AI: Personalized pricing, automated underwriting, chatbot servicing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  4.</a:t>
            </a:r>
            <a:r>
              <a:rPr sz="900">
                <a:solidFill>
                  <a:srgbClr val="666666"/>
                </a:solidFill>
                <a:latin typeface="Calibri"/>
              </a:rPr>
              <a:t> Regulatory tightening: ASIC scrutiny on comparison sites (Choosi case)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  5.</a:t>
            </a:r>
            <a:r>
              <a:rPr sz="900">
                <a:solidFill>
                  <a:srgbClr val="666666"/>
                </a:solidFill>
                <a:latin typeface="Calibri"/>
              </a:rPr>
              <a:t> Climate risk: Increasing natural catastrophe losses driving premium inflation</a:t>
            </a:r>
          </a:p>
          <a:p>
            <a:pPr>
              <a:spcBef>
                <a:spcPts val="100"/>
              </a:spcBef>
              <a:spcAft>
                <a:spcPts val="50"/>
              </a:spcAft>
            </a:pPr>
            <a:r>
              <a:rPr sz="900" b="1">
                <a:solidFill>
                  <a:srgbClr val="333333"/>
                </a:solidFill>
                <a:latin typeface="Calibri"/>
              </a:rPr>
              <a:t>  6.</a:t>
            </a:r>
            <a:r>
              <a:rPr sz="900">
                <a:solidFill>
                  <a:srgbClr val="666666"/>
                </a:solidFill>
                <a:latin typeface="Calibri"/>
              </a:rPr>
              <a:t> Consolidation: Compare the Market acquired iSelect (A$72M); PE/pension fund 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05840"/>
            <a:ext cx="5577840" cy="23774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Player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417320"/>
            <a:ext cx="118872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417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417320"/>
            <a:ext cx="109728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417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417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Key Brands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417320"/>
            <a:ext cx="164592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417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Key Brands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1417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1417320"/>
            <a:ext cx="137160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1417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673352"/>
            <a:ext cx="11887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6733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Greenstone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1673352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16733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Direct Distributor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1673352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673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Real, Seniors, Choosi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24160" y="1673352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16733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Largest DTC in AU/NZ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965960"/>
            <a:ext cx="118872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9659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Compare the</a:t>
            </a:r>
            <a:br/>
            <a:r>
              <a:t>Market / iSelect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1965960"/>
            <a:ext cx="109728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19659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Aggregator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1965960"/>
            <a:ext cx="164592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1965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CTM, iSelect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24160" y="1965960"/>
            <a:ext cx="137160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19659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Owned by IHA (SA);</a:t>
            </a:r>
            <a:br/>
            <a:r>
              <a:t>acquired iSelect A$72M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258568"/>
            <a:ext cx="11887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25856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Auto &amp; General</a:t>
            </a:r>
            <a:br/>
            <a:r>
              <a:t>(Budget Direct)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2258568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22585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Underwriter +</a:t>
            </a:r>
            <a:br/>
            <a:r>
              <a:t>Distributor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2258568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22585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Budget Direct, Virgin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2258568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0" y="22585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Vertically integrated;</a:t>
            </a:r>
            <a:br/>
            <a:r>
              <a:t>also IHA group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2551176"/>
            <a:ext cx="118872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2551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IAG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2551176"/>
            <a:ext cx="109728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0" y="255117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Major Insurer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51176"/>
            <a:ext cx="164592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25511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NRMA, CGU, SGIO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24160" y="2551176"/>
            <a:ext cx="137160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24160" y="25511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Largest AU general</a:t>
            </a:r>
            <a:br/>
            <a:r>
              <a:t>insurer; direct + broker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2843784"/>
            <a:ext cx="11887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284378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Suncorp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0" y="2843784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28437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Major Insurer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2843784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28437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AAMI, GIO, Apia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24160" y="2843784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24160" y="28437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2nd largest; strong</a:t>
            </a:r>
            <a:br/>
            <a:r>
              <a:t>brand portfolio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3136392"/>
            <a:ext cx="118872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31363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333333"/>
                </a:solidFill>
                <a:latin typeface="Calibri"/>
              </a:defRPr>
            </a:pPr>
            <a:r>
              <a:t>NobleOak /</a:t>
            </a:r>
            <a:br/>
            <a:r>
              <a:t>Integrity Life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3136392"/>
            <a:ext cx="109728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0" y="31363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Direct Life</a:t>
            </a:r>
            <a:br/>
            <a:r>
              <a:t>Insurer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78240" y="3136392"/>
            <a:ext cx="164592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0" y="31363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NobleOak, Integrity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24160" y="3136392"/>
            <a:ext cx="137160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24160" y="31363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Calibri"/>
              </a:defRPr>
            </a:pPr>
            <a:r>
              <a:t>Direct life insurance</a:t>
            </a:r>
            <a:br/>
            <a:r>
              <a:t>specialists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5760" y="3520440"/>
            <a:ext cx="5760720" cy="31089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Core Competitive Advantages (Moat)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3886200"/>
            <a:ext cx="5394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1565C0"/>
                </a:solidFill>
                <a:latin typeface="Calibri"/>
              </a:rPr>
              <a:t>1. Multi-Brand Distribution Platform: </a:t>
            </a:r>
            <a:r>
              <a:rPr sz="800">
                <a:solidFill>
                  <a:srgbClr val="666666"/>
                </a:solidFill>
                <a:latin typeface="Calibri"/>
              </a:rPr>
              <a:t>Operates 6+ proprietary brands + multiple affinity partnerships, creating diversified customer acquisition channels. Unlike single-brand insurers, Greenstone can target different demographics (seniors, young families, pet owners) through purpose-built brands.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1565C0"/>
                </a:solidFill>
                <a:latin typeface="Calibri"/>
              </a:rPr>
              <a:t>2. Asset-Light Model (No Underwriting Risk): </a:t>
            </a:r>
            <a:r>
              <a:rPr sz="800">
                <a:solidFill>
                  <a:srgbClr val="666666"/>
                </a:solidFill>
                <a:latin typeface="Calibri"/>
              </a:rPr>
              <a:t>Pure distributor model — earns commissions without bearing claims risk. This results in more predictable earnings, lower capital requirements, and higher ROE vs. traditional insurers.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1565C0"/>
                </a:solidFill>
                <a:latin typeface="Calibri"/>
              </a:rPr>
              <a:t>3. Data &amp; Analytics Capability: </a:t>
            </a:r>
            <a:r>
              <a:rPr sz="800">
                <a:solidFill>
                  <a:srgbClr val="666666"/>
                </a:solidFill>
                <a:latin typeface="Calibri"/>
              </a:rPr>
              <a:t>15+ years of direct insurance data across millions of policies. Proprietary data on customer acquisition costs, lifetime value, and retention by product/channel enables precision marketing and product design — a significant barrier to entry.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1565C0"/>
                </a:solidFill>
                <a:latin typeface="Calibri"/>
              </a:rPr>
              <a:t>4. Recurring Revenue Base: </a:t>
            </a:r>
            <a:r>
              <a:rPr sz="800">
                <a:solidFill>
                  <a:srgbClr val="666666"/>
                </a:solidFill>
                <a:latin typeface="Calibri"/>
              </a:rPr>
              <a:t>Renewal/trail commissions create a 'book' of recurring revenue. As policies renew, commission income flows with near-zero incremental cost — driving operating leverage.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1565C0"/>
                </a:solidFill>
                <a:latin typeface="Calibri"/>
              </a:rPr>
              <a:t>5. Proven International Expansion Playbook: </a:t>
            </a:r>
            <a:r>
              <a:rPr sz="800">
                <a:solidFill>
                  <a:srgbClr val="666666"/>
                </a:solidFill>
                <a:latin typeface="Calibri"/>
              </a:rPr>
              <a:t>Successfully replicated AU model in NZ (2019) and Canada (2023), demonstrating that the platform, technology, and expertise are transferable to new geographies.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1565C0"/>
                </a:solidFill>
                <a:latin typeface="Calibri"/>
              </a:rPr>
              <a:t>6. Strong Institutional Backing: </a:t>
            </a:r>
            <a:r>
              <a:rPr sz="800">
                <a:solidFill>
                  <a:srgbClr val="666666"/>
                </a:solidFill>
                <a:latin typeface="Calibri"/>
              </a:rPr>
              <a:t>CDPQ + OTPP ownership provides patient capital, governance standards, and credibility for partnerships. These are among the world's most sophisticated infrastructure/PE investors.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63640" y="3520440"/>
            <a:ext cx="5577840" cy="31089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4652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Key Risks &amp; Investment Considerations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46520" y="38862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E65100"/>
                </a:solidFill>
                <a:latin typeface="Calibri"/>
              </a:rPr>
              <a:t>Regulatory Risk:</a:t>
            </a:r>
            <a:r>
              <a:rPr sz="800">
                <a:solidFill>
                  <a:srgbClr val="666666"/>
                </a:solidFill>
                <a:latin typeface="Calibri"/>
              </a:rPr>
              <a:t> ASIC alleged Choosi received A$61M while steering customers to single underwriter (Hannover). Comparison site business model under scrutiny — potential requirement for greater transparency and reduced commissions.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E65100"/>
                </a:solidFill>
                <a:latin typeface="Calibri"/>
              </a:rPr>
              <a:t>Underwriter Concentration:</a:t>
            </a:r>
            <a:r>
              <a:rPr sz="800">
                <a:solidFill>
                  <a:srgbClr val="666666"/>
                </a:solidFill>
                <a:latin typeface="Calibri"/>
              </a:rPr>
              <a:t> Heavy reliance on Hollard as primary underwriting partner. Loss of key underwriter relationship would significantly impact operations.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E65100"/>
                </a:solidFill>
                <a:latin typeface="Calibri"/>
              </a:rPr>
              <a:t>Competition:</a:t>
            </a:r>
            <a:r>
              <a:rPr sz="800">
                <a:solidFill>
                  <a:srgbClr val="666666"/>
                </a:solidFill>
                <a:latin typeface="Calibri"/>
              </a:rPr>
              <a:t> Consolidation (CTM + iSelect) and vertical integration by large insurers (IAG, Suncorp going direct) threaten market share. Low switching costs for consumers.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E65100"/>
                </a:solidFill>
                <a:latin typeface="Calibri"/>
              </a:rPr>
              <a:t>Customer Acquisition Cost:</a:t>
            </a:r>
            <a:r>
              <a:rPr sz="800">
                <a:solidFill>
                  <a:srgbClr val="666666"/>
                </a:solidFill>
                <a:latin typeface="Calibri"/>
              </a:rPr>
              <a:t> Digital marketing costs rising (Google, Meta). TV/above-the-line advertising required for brand building is expensive and hard to measure.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1">
                <a:solidFill>
                  <a:srgbClr val="E65100"/>
                </a:solidFill>
                <a:latin typeface="Calibri"/>
              </a:rPr>
              <a:t>Growth Risks:</a:t>
            </a:r>
            <a:r>
              <a:rPr sz="800">
                <a:solidFill>
                  <a:srgbClr val="666666"/>
                </a:solidFill>
                <a:latin typeface="Calibri"/>
              </a:rPr>
              <a:t> NZ and Canada expansion requires upfront investment with uncertain payback. New market dynamics, regulation, and competitive landscapes differ from AU.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4652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Calibri"/>
              </a:defRPr>
            </a:pPr>
            <a:r>
              <a:t>Valuation Context: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46520" y="56692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t>• Insurance distributor/MGA comps trade at 5-7x EBITDA (wholesale); 8-12x (retail/direct)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t>• 2015 IPO attempt implied ~A$984M valuation; current value likely higher given expansion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t>• Key value driver: Quality of recurring commission book + growth optionality (NZ/Canada)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50">
                <a:solidFill>
                  <a:srgbClr val="333333"/>
                </a:solidFill>
                <a:latin typeface="Calibri"/>
              </a:defRPr>
            </a:pPr>
            <a:r>
              <a:t>• Comparable transactions: Compare the Market/iSelect (A$72M for iSelect alone)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