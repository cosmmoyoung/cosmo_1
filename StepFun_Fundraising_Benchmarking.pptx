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Raised 累计融资</c:v>
                </c:pt>
              </c:strCache>
            </c:strRef>
          </c:tx>
          <c:spPr>
            <a:solidFill>
              <a:srgbClr val="1A237E"/>
            </a:solidFill>
          </c:spPr>
          <c:dLbls>
            <c:numFmt formatCode="$#,##0.0&quot;B&quot;" sourceLinked="0"/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StepFun
阶跃星辰</c:v>
                </c:pt>
                <c:pt idx="1">
                  <c:v>MiniMax</c:v>
                </c:pt>
                <c:pt idx="2">
                  <c:v>Zhipu AI
智谱</c:v>
                </c:pt>
                <c:pt idx="3">
                  <c:v>DeepSeek
深度求索</c:v>
                </c:pt>
                <c:pt idx="4">
                  <c:v>Moonshot
Kimi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1.78</c:v>
                </c:pt>
                <c:pt idx="1">
                  <c:v>1.7</c:v>
                </c:pt>
                <c:pt idx="2">
                  <c:v>2.0</c:v>
                </c:pt>
                <c:pt idx="3">
                  <c:v>1.6</c:v>
                </c:pt>
                <c:pt idx="4">
                  <c:v>2.97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on Hand 账上现金</c:v>
                </c:pt>
              </c:strCache>
            </c:strRef>
          </c:tx>
          <c:spPr>
            <a:solidFill>
              <a:srgbClr val="2E7D32"/>
            </a:solidFill>
          </c:spPr>
          <c:dLbls>
            <c:numFmt formatCode="$#,##0.0&quot;B&quot;" sourceLinked="0"/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StepFun
阶跃星辰</c:v>
                </c:pt>
                <c:pt idx="1">
                  <c:v>MiniMax</c:v>
                </c:pt>
                <c:pt idx="2">
                  <c:v>Zhipu AI
智谱</c:v>
                </c:pt>
                <c:pt idx="3">
                  <c:v>DeepSeek
深度求索</c:v>
                </c:pt>
                <c:pt idx="4">
                  <c:v>Moonshot
Kimi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</c:v>
                </c:pt>
                <c:pt idx="1">
                  <c:v>0.7</c:v>
                </c:pt>
                <c:pt idx="2">
                  <c:v>0.65</c:v>
                </c:pt>
                <c:pt idx="3">
                  <c:v>99</c:v>
                </c:pt>
                <c:pt idx="4">
                  <c:v>1.75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Annual Burn 年化消耗</c:v>
                </c:pt>
              </c:strCache>
            </c:strRef>
          </c:tx>
          <c:spPr>
            <a:solidFill>
              <a:srgbClr val="E65100"/>
            </a:solidFill>
          </c:spPr>
          <c:dLbls>
            <c:numFmt formatCode="$#,##0.0&quot;B&quot;" sourceLinked="0"/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StepFun
阶跃星辰</c:v>
                </c:pt>
                <c:pt idx="1">
                  <c:v>MiniMax</c:v>
                </c:pt>
                <c:pt idx="2">
                  <c:v>Zhipu AI
智谱</c:v>
                </c:pt>
                <c:pt idx="3">
                  <c:v>DeepSeek
深度求索</c:v>
                </c:pt>
                <c:pt idx="4">
                  <c:v>Moonshot
Kimi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0.35</c:v>
                </c:pt>
                <c:pt idx="1">
                  <c:v>0.65</c:v>
                </c:pt>
                <c:pt idx="2">
                  <c:v>0.66</c:v>
                </c:pt>
                <c:pt idx="3">
                  <c:v>0.75</c:v>
                </c:pt>
                <c:pt idx="4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numFmt formatCode="$#,##0.0&quot;B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Raised 累计融资</c:v>
                </c:pt>
              </c:strCache>
            </c:strRef>
          </c:tx>
          <c:spPr>
            <a:solidFill>
              <a:srgbClr val="1A237E"/>
            </a:solidFill>
          </c:spPr>
          <c:dLbls>
            <c:numFmt formatCode="$#,##0&quot;B&quot;" sourceLinked="0"/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OpenAI</c:v>
                </c:pt>
                <c:pt idx="1">
                  <c:v>Anthropic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168.0</c:v>
                </c:pt>
                <c:pt idx="1">
                  <c:v>67.3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on Hand 账上现金</c:v>
                </c:pt>
              </c:strCache>
            </c:strRef>
          </c:tx>
          <c:spPr>
            <a:solidFill>
              <a:srgbClr val="2E7D32"/>
            </a:solidFill>
          </c:spPr>
          <c:dLbls>
            <c:numFmt formatCode="$#,##0&quot;B&quot;" sourceLinked="0"/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OpenAI</c:v>
                </c:pt>
                <c:pt idx="1">
                  <c:v>Anthropic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70.0</c:v>
                </c:pt>
                <c:pt idx="1">
                  <c:v>35.0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Annual Burn 年化消耗</c:v>
                </c:pt>
              </c:strCache>
            </c:strRef>
          </c:tx>
          <c:spPr>
            <a:solidFill>
              <a:srgbClr val="E65100"/>
            </a:solidFill>
          </c:spPr>
          <c:dLbls>
            <c:numFmt formatCode="$#,##0&quot;B&quot;" sourceLinked="0"/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OpenAI</c:v>
                </c:pt>
                <c:pt idx="1">
                  <c:v>Anthropic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25.0</c:v>
                </c:pt>
                <c:pt idx="1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/>
        <c:numFmt formatCode="$#,##0&quot;B&quot;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  <c:majorUnit val="30.0"/>
      </c:valAx>
    </c:plotArea>
    <c:legend>
      <c:legendPos val="b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StepFun (阶跃星辰) | Fundraising Track Record &amp; 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0CAF9"/>
                </a:solidFill>
                <a:latin typeface="Calibri"/>
              </a:defRPr>
            </a:pPr>
            <a:r>
              <a:t>Confidential |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3E"/>
                </a:solidFill>
                <a:latin typeface="Calibri"/>
              </a:defRPr>
            </a:pPr>
            <a:r>
              <a:t>融资历史 Fundraising History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6583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822960"/>
                <a:gridCol w="640080"/>
                <a:gridCol w="960120"/>
                <a:gridCol w="822960"/>
                <a:gridCol w="2926080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日期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轮次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投前估值($)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融资额($)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主要投资人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2023.06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A轮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$7亿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$1.7亿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红杉、启明、滨柏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2024.04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A+轮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$11.4亿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五源、联想、众源、顺为等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2024.12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B轮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$20亿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$2.3亿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HKIC、腾讯、无锡、上海国投+华腾等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2025.12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B+轮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$7.7亿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浦东创投、徐汇资本、国投先导、华勤、上海仪电集团等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2026.03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B3轮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$40亿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$5.0亿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3W Fund、华勤、亦庄国投、长三角数文、龙旗、豪威、上汽等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2026.04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B4轮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$60亿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交割中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565C0"/>
                </a:solidFill>
                <a:latin typeface="Calibri"/>
              </a:defRPr>
            </a:pPr>
            <a:r>
              <a:t>累计融资 ~$17.8亿 (不含B4) | 估值增长: $7亿 → $60亿 (8.6x, &lt;3年)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3E"/>
                </a:solidFill>
                <a:latin typeface="Calibri"/>
              </a:defRPr>
            </a:pPr>
            <a:r>
              <a:t>核心指标 Key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234440"/>
            <a:ext cx="4663440" cy="105156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280160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"/>
              </a:spcAft>
            </a:pPr>
            <a:r>
              <a:rPr sz="850" b="1">
                <a:solidFill>
                  <a:srgbClr val="0D1B3E"/>
                </a:solidFill>
                <a:latin typeface="Calibri"/>
              </a:rPr>
              <a:t>累计融资:</a:t>
            </a:r>
            <a:r>
              <a:rPr sz="850">
                <a:solidFill>
                  <a:srgbClr val="666666"/>
                </a:solidFill>
                <a:latin typeface="Calibri"/>
              </a:rPr>
              <a:t> ~$17.8亿 (不含B4交割)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850" b="1">
                <a:solidFill>
                  <a:srgbClr val="0D1B3E"/>
                </a:solidFill>
                <a:latin typeface="Calibri"/>
              </a:rPr>
              <a:t>最新估值:</a:t>
            </a:r>
            <a:r>
              <a:rPr sz="850">
                <a:solidFill>
                  <a:srgbClr val="666666"/>
                </a:solidFill>
                <a:latin typeface="Calibri"/>
              </a:rPr>
              <a:t> $60亿 (B4轮投前)  |  3年增长 8.6x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850" b="1">
                <a:solidFill>
                  <a:srgbClr val="0D1B3E"/>
                </a:solidFill>
                <a:latin typeface="Calibri"/>
              </a:rPr>
              <a:t>创始人:</a:t>
            </a:r>
            <a:r>
              <a:rPr sz="850">
                <a:solidFill>
                  <a:srgbClr val="666666"/>
                </a:solidFill>
                <a:latin typeface="Calibri"/>
              </a:rPr>
              <a:t> 姜大昕 (前微软全球副总裁)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850" b="1">
                <a:solidFill>
                  <a:srgbClr val="0D1B3E"/>
                </a:solidFill>
                <a:latin typeface="Calibri"/>
              </a:rPr>
              <a:t>成立时间:</a:t>
            </a:r>
            <a:r>
              <a:rPr sz="850">
                <a:solidFill>
                  <a:srgbClr val="666666"/>
                </a:solidFill>
                <a:latin typeface="Calibri"/>
              </a:rPr>
              <a:t> 2023年4月，上海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850" b="1">
                <a:solidFill>
                  <a:srgbClr val="0D1B3E"/>
                </a:solidFill>
                <a:latin typeface="Calibri"/>
              </a:rPr>
              <a:t>IPO计划:</a:t>
            </a:r>
            <a:r>
              <a:rPr sz="850">
                <a:solidFill>
                  <a:srgbClr val="666666"/>
                </a:solidFill>
                <a:latin typeface="Calibri"/>
              </a:rPr>
              <a:t> 筹划港股上市，或融~$5亿 (Bloomberg 2月报道)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77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3E"/>
                </a:solidFill>
                <a:latin typeface="Calibri"/>
              </a:defRPr>
            </a:pPr>
            <a:r>
              <a:t>股权结构 (B3轮后)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78040" y="2606040"/>
          <a:ext cx="46634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公司团队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ESOP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上海仪电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红杉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启明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其他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24.8%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(不含HKIC)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(含HKIC 3.1%)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团队合计持股 41%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外部股东 59%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董事长表决权 35%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3E"/>
                </a:solidFill>
                <a:latin typeface="Calibri"/>
              </a:defRPr>
            </a:pPr>
            <a:r>
              <a:t>同业对标 Competitive Benchmarking — 融资总额 / 账上现金 / 年化消耗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85032"/>
            <a:ext cx="11430000" cy="182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565C0"/>
                </a:solidFill>
                <a:latin typeface="Calibri"/>
              </a:defRPr>
            </a:pPr>
            <a:r>
              <a:t>中国 AI 创业公司 (单位: $B)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74320" y="402336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794760" y="4297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>
                <a:solidFill>
                  <a:srgbClr val="666666"/>
                </a:solidFill>
                <a:latin typeface="Calibri"/>
              </a:defRPr>
            </a:pPr>
            <a:r>
              <a:t>* DeepSeek 账上现金</a:t>
            </a:r>
            <a:br/>
            <a:r>
              <a:t>实质无限 (母公司</a:t>
            </a:r>
            <a:br/>
            <a:r>
              <a:t>幻方量化 AUM $13B,</a:t>
            </a:r>
            <a:br/>
            <a:r>
              <a:t>2025收益率57%)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565C0"/>
                </a:solidFill>
                <a:latin typeface="Calibri"/>
              </a:defRPr>
            </a:pPr>
            <a:r>
              <a:t>美国前沿实验室 (单位: $B)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858000" y="4023360"/>
          <a:ext cx="5029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65760" y="6446520"/>
            <a:ext cx="11430000" cy="320040"/>
          </a:xfrm>
          <a:prstGeom prst="roundRect">
            <a:avLst/>
          </a:prstGeom>
          <a:solidFill>
            <a:srgbClr val="FDF0E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6480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65100"/>
                </a:solidFill>
                <a:latin typeface="Calibri"/>
              </a:rPr>
              <a:t>Key Takeaway: </a:t>
            </a:r>
            <a:r>
              <a:rPr sz="750">
                <a:solidFill>
                  <a:srgbClr val="333333"/>
                </a:solidFill>
                <a:latin typeface="Calibri"/>
              </a:rPr>
              <a:t>StepFun累计融资$17.8亿，位列中国四小龙前列 | 中国AI创业公司融资$1-3B vs 美国前沿实验室$67-168B，差距50-100x | MiniMax/智谱IPO后仅12-18个月runway; Moonshot/StepFun约3年 | 现金消耗是核心生存指标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>
                <a:solidFill>
                  <a:srgbClr val="666666"/>
                </a:solidFill>
                <a:latin typeface="Calibri"/>
              </a:defRPr>
            </a:pPr>
            <a:r>
              <a:t>Sources: Caixin, CNBC, TechCrunch, Bloomberg, SCMP, Tracxn, PitchBook, company filings | 注: 现金及消耗率为估算值; DeepSeek为母公司幻方量化自主注资; OpenAI Series G含大量非现金承诺(GPU credits等)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